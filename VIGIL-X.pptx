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7" r:id="rId2"/>
    <p:sldId id="271" r:id="rId3"/>
    <p:sldId id="272" r:id="rId4"/>
    <p:sldId id="274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E6F3A75-9D93-4E81-934B-48DF8D6FB2DC}" v="2" dt="2025-10-13T07:39:32.28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2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ratirupa Toppo" userId="3bc384e91ad25a15" providerId="LiveId" clId="{8919403E-E9B7-4C3D-AE4C-EBC843E8F4F7}"/>
    <pc:docChg chg="modSld">
      <pc:chgData name="Pratirupa Toppo" userId="3bc384e91ad25a15" providerId="LiveId" clId="{8919403E-E9B7-4C3D-AE4C-EBC843E8F4F7}" dt="2025-10-13T07:39:32.285" v="1" actId="1076"/>
      <pc:docMkLst>
        <pc:docMk/>
      </pc:docMkLst>
      <pc:sldChg chg="modSp">
        <pc:chgData name="Pratirupa Toppo" userId="3bc384e91ad25a15" providerId="LiveId" clId="{8919403E-E9B7-4C3D-AE4C-EBC843E8F4F7}" dt="2025-10-13T07:39:32.285" v="1" actId="1076"/>
        <pc:sldMkLst>
          <pc:docMk/>
          <pc:sldMk cId="3951643153" sldId="257"/>
        </pc:sldMkLst>
        <pc:picChg chg="mod">
          <ac:chgData name="Pratirupa Toppo" userId="3bc384e91ad25a15" providerId="LiveId" clId="{8919403E-E9B7-4C3D-AE4C-EBC843E8F4F7}" dt="2025-10-13T07:39:32.285" v="1" actId="1076"/>
          <ac:picMkLst>
            <pc:docMk/>
            <pc:sldMk cId="3951643153" sldId="257"/>
            <ac:picMk id="7" creationId="{A04C8AFD-9C0C-6372-C03A-EBCDFFB1E4AB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7C135BB-2EE5-4C28-922C-03D48617DDC1}" type="datetimeFigureOut">
              <a:rPr lang="en-US" smtClean="0"/>
              <a:t>10/13/2025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8C2523E-6CEF-4674-9827-D10F9AEE4E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5126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006134-BD4D-A777-5B84-B1E2EFE7059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2F9A7DD-14CF-F7BB-C6A1-AC4E0B82829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FF579D-227E-7920-CFEE-0873FC69DB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FF49FE-9643-4563-A4EF-AB26C8354D16}" type="datetimeFigureOut">
              <a:rPr lang="en-US" smtClean="0"/>
              <a:t>10/13/2025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DD0CC6-08D8-DF42-E12C-083C952BEA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953EA1-A305-5CE3-5886-598C27F4A8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07FBEC-B5C5-4748-8BC6-5A9293FCE3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1581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9C8C26-4B3B-0E04-EF2E-9DFA7B1DEC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DABFBC-D717-4CAF-4FD4-13836C5EC3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10BA37-7CA2-4F27-13A1-A5BF1D065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FF49FE-9643-4563-A4EF-AB26C8354D16}" type="datetimeFigureOut">
              <a:rPr lang="en-US" smtClean="0"/>
              <a:t>10/13/2025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7FA0CD-3FC2-0E86-50B9-49DC72BE53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5634EF-6E5F-19D2-9946-2397600DA9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07FBEC-B5C5-4748-8BC6-5A9293FCE3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72738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4E514B-2249-847E-2BF2-2B64354B3D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00A7F1F-0E01-7F36-DD2D-3578D35DDF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C09687-12F6-3A2A-D63B-BFFECAC8B2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FF49FE-9643-4563-A4EF-AB26C8354D16}" type="datetimeFigureOut">
              <a:rPr lang="en-US" smtClean="0"/>
              <a:t>10/13/2025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297D9C-7D0C-CB2F-8E6D-92A929BC90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C92124-81DF-DE4A-4212-804ED2AD00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07FBEC-B5C5-4748-8BC6-5A9293FCE3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2590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1EA18E-A87D-18D1-BAF8-1F2F4CD5F5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DEB341-D9D0-5F22-5FA0-27CFDFBC622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11A8917-9A42-2086-6E91-9C2B5725D1D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36489A-399E-79B9-7780-27DEA38E0B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FF49FE-9643-4563-A4EF-AB26C8354D16}" type="datetimeFigureOut">
              <a:rPr lang="en-US" smtClean="0"/>
              <a:t>10/13/2025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50CEBD6-2458-65F3-67E0-78962DCBB2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9696B9-5E32-4392-A211-B95E9B6BBE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07FBEC-B5C5-4748-8BC6-5A9293FCE3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09491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718CFF-EB19-FBC5-6722-6194BC8824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C6B3771-AAE7-7706-9D72-C9035E333D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6DF5BC4-C2AC-790D-26F8-9F5118B9334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4BB212E-B986-ACA2-9685-74D116992E3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171FF23-A385-E78F-8C0C-C35595F5C53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8A7C787-37E9-EC29-06B7-F443A18971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FF49FE-9643-4563-A4EF-AB26C8354D16}" type="datetimeFigureOut">
              <a:rPr lang="en-US" smtClean="0"/>
              <a:t>10/13/2025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CB55F27-A3B4-C807-18AE-91B60309D1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343F83A-B151-EE2A-93A5-5587DAAC3D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07FBEC-B5C5-4748-8BC6-5A9293FCE3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9358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00626C-185B-CCB8-82E5-6CF22C6ED5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12D540B-9177-4AE8-B2F5-3D24D2B489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FF49FE-9643-4563-A4EF-AB26C8354D16}" type="datetimeFigureOut">
              <a:rPr lang="en-US" smtClean="0"/>
              <a:t>10/13/2025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08943B3-F186-DE98-2A44-D5B797DCB8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DE3B883-E958-3543-306A-A5276D5758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07FBEC-B5C5-4748-8BC6-5A9293FCE3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8129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9B1CEE3-7867-1340-030F-AAAB26EE63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FF49FE-9643-4563-A4EF-AB26C8354D16}" type="datetimeFigureOut">
              <a:rPr lang="en-US" smtClean="0"/>
              <a:t>10/13/2025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5846853-15A8-A118-FEFF-CFCAC6854E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E842EB-1671-D560-2A06-B8F2AE32F2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07FBEC-B5C5-4748-8BC6-5A9293FCE3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83186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5C50C7-1D65-C89F-48DD-61D7A0D40A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ACECE0-DEC2-EEC5-8BA5-37C5F8DEBC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C6D9E66-6A55-0A8D-2D70-27FCE07DEAC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7697C19-A72E-D09E-E58B-989A6734B4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FF49FE-9643-4563-A4EF-AB26C8354D16}" type="datetimeFigureOut">
              <a:rPr lang="en-US" smtClean="0"/>
              <a:t>10/13/2025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D8886C2-0931-00BD-98D5-A75915D30B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C4A71F-7412-F5AC-0295-72587176C7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07FBEC-B5C5-4748-8BC6-5A9293FCE3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68568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92BF86-79FB-E01E-CDFC-83019B0958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F655D50-8E49-5C4A-DBAA-574DFEB994D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9464D0C-3700-60FD-A084-6FFC0ECDEA2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C002C13-2BAC-2051-6C71-AB1363FC1B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FF49FE-9643-4563-A4EF-AB26C8354D16}" type="datetimeFigureOut">
              <a:rPr lang="en-US" smtClean="0"/>
              <a:t>10/13/2025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11759B-BF63-BB8F-B43E-D74961409C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5F5544-8BB1-BEDF-44B5-8698082EC0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07FBEC-B5C5-4748-8BC6-5A9293FCE3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07821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F46034-9ED2-773A-8200-9AC7688B73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303ABBA-F372-CDFC-1D00-5497A153EA2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406687-E5D1-F9C2-7927-8D330F7E86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FF49FE-9643-4563-A4EF-AB26C8354D16}" type="datetimeFigureOut">
              <a:rPr lang="en-US" smtClean="0"/>
              <a:t>10/13/2025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DEB9DB-1813-A8CE-4586-90E69CDA50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67C4F2-8290-1F80-88D2-38D5647164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07FBEC-B5C5-4748-8BC6-5A9293FCE3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7720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AE3F1F1-ECB5-66C9-0903-D00DFFDBEB2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E5703E3-C016-3A71-78CA-B8DA2650C77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648B76-3840-945E-7DF2-A6D9913FFB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FF49FE-9643-4563-A4EF-AB26C8354D16}" type="datetimeFigureOut">
              <a:rPr lang="en-US" smtClean="0"/>
              <a:t>10/13/2025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C2A200-9EC6-C4EA-0950-CFBEC83985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6FC4D8-DDDD-EBA8-31BA-ABA66E6FDF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07FBEC-B5C5-4748-8BC6-5A9293FCE3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40889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91765A4-BF25-4DB7-455B-B083680F24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FA8D39-F2FB-0014-3358-8410DD5504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BDC396-FCF9-69B2-46FA-6D85BB6296A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8FF49FE-9643-4563-A4EF-AB26C8354D16}" type="datetimeFigureOut">
              <a:rPr lang="en-US" smtClean="0"/>
              <a:t>10/13/2025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02AB78-47E6-83EB-5CA6-D25A2571008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D737B0-3D28-0CAC-2E35-6C7209E776D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F07FBEC-B5C5-4748-8BC6-5A9293FCE3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91829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2" descr="Wie Logo Stock Illustrations – 11 Wie Logo Stock Illustrations, Vectors ...">
            <a:extLst>
              <a:ext uri="{FF2B5EF4-FFF2-40B4-BE49-F238E27FC236}">
                <a16:creationId xmlns:a16="http://schemas.microsoft.com/office/drawing/2014/main" id="{FAE4E269-D075-1A14-95E1-4E5A0D8FEF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86588" y="54560"/>
            <a:ext cx="1418824" cy="13285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8" descr="XIM University on Twitter: &quot;A forerunner in the field of Jesuit ...">
            <a:extLst>
              <a:ext uri="{FF2B5EF4-FFF2-40B4-BE49-F238E27FC236}">
                <a16:creationId xmlns:a16="http://schemas.microsoft.com/office/drawing/2014/main" id="{A04C8AFD-9C0C-6372-C03A-EBCDFFB1E4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79898" y="136525"/>
            <a:ext cx="1142999" cy="11588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0" name="Picture 12" descr="Ieee-logo Png, Transparent Png - kindpng">
            <a:extLst>
              <a:ext uri="{FF2B5EF4-FFF2-40B4-BE49-F238E27FC236}">
                <a16:creationId xmlns:a16="http://schemas.microsoft.com/office/drawing/2014/main" id="{D342B18C-9A75-6F0A-7AA1-BA73CB77E5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28354" y="224261"/>
            <a:ext cx="2081498" cy="9806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701E532-0118-F01D-86A2-10E809C7C21F}"/>
              </a:ext>
            </a:extLst>
          </p:cNvPr>
          <p:cNvSpPr txBox="1"/>
          <p:nvPr/>
        </p:nvSpPr>
        <p:spPr>
          <a:xfrm>
            <a:off x="2722897" y="2766486"/>
            <a:ext cx="695217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Baskerville Old Face" panose="02020602080505020303" pitchFamily="18" charset="0"/>
              </a:rPr>
              <a:t>(The Future of Trustworthy Transactions)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9E44058-A69E-72DC-C46C-E030AB2A04CB}"/>
              </a:ext>
            </a:extLst>
          </p:cNvPr>
          <p:cNvSpPr txBox="1"/>
          <p:nvPr/>
        </p:nvSpPr>
        <p:spPr>
          <a:xfrm>
            <a:off x="372509" y="3991300"/>
            <a:ext cx="4292797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u="sng" dirty="0">
                <a:latin typeface="Castellar" pitchFamily="18" charset="0"/>
              </a:rPr>
              <a:t>Team Name:-</a:t>
            </a:r>
          </a:p>
          <a:p>
            <a:r>
              <a:rPr lang="en-US" dirty="0"/>
              <a:t>	</a:t>
            </a:r>
            <a:r>
              <a:rPr lang="en-US" dirty="0">
                <a:latin typeface="Baskerville Old Face" pitchFamily="18" charset="0"/>
              </a:rPr>
              <a:t>Ace</a:t>
            </a:r>
          </a:p>
          <a:p>
            <a:endParaRPr lang="en-US" dirty="0"/>
          </a:p>
          <a:p>
            <a:r>
              <a:rPr lang="en-US" b="1" u="sng" dirty="0">
                <a:latin typeface="Castellar" pitchFamily="18" charset="0"/>
              </a:rPr>
              <a:t>Team Members:-</a:t>
            </a:r>
          </a:p>
          <a:p>
            <a:pPr lvl="1"/>
            <a:r>
              <a:rPr lang="en-US" dirty="0">
                <a:latin typeface="Baskerville Old Face" pitchFamily="18" charset="0"/>
              </a:rPr>
              <a:t>Sneha Grace Kujur</a:t>
            </a:r>
          </a:p>
          <a:p>
            <a:pPr lvl="1"/>
            <a:r>
              <a:rPr lang="en-US" dirty="0">
                <a:latin typeface="Baskerville Old Face" pitchFamily="18" charset="0"/>
              </a:rPr>
              <a:t>Pratirupa Toppo</a:t>
            </a:r>
          </a:p>
          <a:p>
            <a:pPr lvl="1"/>
            <a:r>
              <a:rPr lang="en-US" dirty="0">
                <a:latin typeface="Baskerville Old Face" pitchFamily="18" charset="0"/>
              </a:rPr>
              <a:t>Abhibita Sanya Priyadarshani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F5593DA-9677-1F21-E717-878C39AD290A}"/>
              </a:ext>
            </a:extLst>
          </p:cNvPr>
          <p:cNvSpPr txBox="1"/>
          <p:nvPr/>
        </p:nvSpPr>
        <p:spPr>
          <a:xfrm>
            <a:off x="4145445" y="1663319"/>
            <a:ext cx="390111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400" b="1" dirty="0">
                <a:latin typeface="Castellar" panose="020A0402060406010301" pitchFamily="18" charset="0"/>
              </a:rPr>
              <a:t>VIGIL-X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F8B1D88-6B5D-257D-8BD9-2E084B844DD7}"/>
              </a:ext>
            </a:extLst>
          </p:cNvPr>
          <p:cNvSpPr txBox="1"/>
          <p:nvPr/>
        </p:nvSpPr>
        <p:spPr>
          <a:xfrm>
            <a:off x="8544759" y="3991300"/>
            <a:ext cx="334244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u="sng" dirty="0">
                <a:latin typeface="Castellar" pitchFamily="18" charset="0"/>
              </a:rPr>
              <a:t>Affiliation:-</a:t>
            </a:r>
          </a:p>
          <a:p>
            <a:pPr lvl="1"/>
            <a:r>
              <a:rPr lang="en-US" dirty="0">
                <a:latin typeface="Baskerville Old Face" pitchFamily="18" charset="0"/>
              </a:rPr>
              <a:t>School of Computer Science and Engineering, </a:t>
            </a:r>
          </a:p>
          <a:p>
            <a:pPr lvl="1"/>
            <a:r>
              <a:rPr lang="en-US" dirty="0">
                <a:latin typeface="Baskerville Old Face" pitchFamily="18" charset="0"/>
              </a:rPr>
              <a:t>XIM University, Bhubaneswar, Odisha, India</a:t>
            </a:r>
          </a:p>
          <a:p>
            <a:endParaRPr lang="en-US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>
          <a:xfrm>
            <a:off x="1073021" y="6356350"/>
            <a:ext cx="10123714" cy="365125"/>
          </a:xfrm>
        </p:spPr>
        <p:txBody>
          <a:bodyPr/>
          <a:lstStyle/>
          <a:p>
            <a:r>
              <a:rPr lang="en-US" sz="3200" b="1" dirty="0">
                <a:latin typeface="Baskerville Old Face" pitchFamily="18" charset="0"/>
              </a:rPr>
              <a:t>The Big Idea Pitch Competition 2025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07FBEC-B5C5-4748-8BC6-5A9293FCE3F3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16431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8B4FBD-D537-B092-7B2D-CD59E6A7CA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hand holding a phone to a small blue person&#10;&#10;AI-generated content may be incorrect.">
            <a:extLst>
              <a:ext uri="{FF2B5EF4-FFF2-40B4-BE49-F238E27FC236}">
                <a16:creationId xmlns:a16="http://schemas.microsoft.com/office/drawing/2014/main" id="{46BE4E1B-0353-67D2-566F-E8E8458D1F3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68"/>
            <a:ext cx="12192000" cy="685466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E52538A-3855-D156-B03D-C684FBA66233}"/>
              </a:ext>
            </a:extLst>
          </p:cNvPr>
          <p:cNvSpPr txBox="1"/>
          <p:nvPr/>
        </p:nvSpPr>
        <p:spPr>
          <a:xfrm>
            <a:off x="7342532" y="2075408"/>
            <a:ext cx="4246494" cy="3170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2000" dirty="0">
                <a:latin typeface="Baskerville Old Face" panose="02020602080505020303" pitchFamily="18" charset="0"/>
              </a:rPr>
              <a:t>NFC's convenience is threatened by a new wave of advanced, AI-driven fraud. But the 'black box' defenses built to fight these threats are creating a second crisis: they unfairly block legitimate users and erode the very trust they are meant to protect. This leaves us with a broken system that is both vulnerable to criminals and hostile to its own honest users.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73E00A0-039E-5A1C-052D-C5FA19CC2C7E}"/>
              </a:ext>
            </a:extLst>
          </p:cNvPr>
          <p:cNvSpPr txBox="1"/>
          <p:nvPr/>
        </p:nvSpPr>
        <p:spPr>
          <a:xfrm>
            <a:off x="7292836" y="809247"/>
            <a:ext cx="434588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b="1" u="sng" dirty="0">
                <a:solidFill>
                  <a:schemeClr val="bg1"/>
                </a:solidFill>
                <a:latin typeface="Castellar" panose="020A0402060406010301" pitchFamily="18" charset="0"/>
              </a:rPr>
              <a:t>The Problem</a:t>
            </a:r>
            <a:endParaRPr lang="en-US" sz="4000" u="sng" dirty="0">
              <a:solidFill>
                <a:schemeClr val="bg1"/>
              </a:solidFill>
              <a:latin typeface="Castellar" panose="020A0402060406010301" pitchFamily="18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07FBEC-B5C5-4748-8BC6-5A9293FCE3F3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76525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0" y="3810"/>
            <a:ext cx="12188190" cy="685419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36093" y="613338"/>
            <a:ext cx="576472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b="1" u="sng" dirty="0">
                <a:solidFill>
                  <a:schemeClr val="bg1"/>
                </a:solidFill>
                <a:latin typeface="Castellar" pitchFamily="18" charset="0"/>
              </a:rPr>
              <a:t>The AI Based Solution</a:t>
            </a:r>
            <a:endParaRPr lang="en-US" sz="3200" u="sng" dirty="0">
              <a:solidFill>
                <a:schemeClr val="bg1"/>
              </a:solidFill>
              <a:latin typeface="Castellar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287316" y="1538079"/>
            <a:ext cx="5462274" cy="25545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000" dirty="0">
                <a:solidFill>
                  <a:schemeClr val="bg1"/>
                </a:solidFill>
                <a:latin typeface="Baskerville Old Face" pitchFamily="18" charset="0"/>
              </a:rPr>
              <a:t>Our solution is a dual-purpose AI framework designed to solve both crises. First, a proactive </a:t>
            </a:r>
            <a:r>
              <a:rPr lang="en-US" sz="2000" b="1" dirty="0">
                <a:solidFill>
                  <a:schemeClr val="bg1"/>
                </a:solidFill>
                <a:latin typeface="Baskerville Old Face" pitchFamily="18" charset="0"/>
              </a:rPr>
              <a:t>'Shield' </a:t>
            </a:r>
            <a:r>
              <a:rPr lang="en-US" sz="2000" dirty="0">
                <a:solidFill>
                  <a:schemeClr val="bg1"/>
                </a:solidFill>
                <a:latin typeface="Baskerville Old Face" pitchFamily="18" charset="0"/>
              </a:rPr>
              <a:t>uses behavioral analysis and GPS data to accurately neutralize advanced threats. Second, a transparent </a:t>
            </a:r>
            <a:r>
              <a:rPr lang="en-US" sz="2000" b="1" dirty="0">
                <a:solidFill>
                  <a:schemeClr val="bg1"/>
                </a:solidFill>
                <a:latin typeface="Baskerville Old Face" pitchFamily="18" charset="0"/>
              </a:rPr>
              <a:t>'Compass' </a:t>
            </a:r>
            <a:r>
              <a:rPr lang="en-US" sz="2000" dirty="0">
                <a:solidFill>
                  <a:schemeClr val="bg1"/>
                </a:solidFill>
                <a:latin typeface="Baskerville Old Face" pitchFamily="18" charset="0"/>
              </a:rPr>
              <a:t>uses Explainable AI to provide clear, simple reasons for any precautionary action. This approach stops criminals while actively rebuilding trust with legitimate users.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07FBEC-B5C5-4748-8BC6-5A9293FCE3F3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32546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0" y="3810"/>
            <a:ext cx="12188190" cy="685419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8368496" y="1076414"/>
            <a:ext cx="3646025" cy="47089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buFont typeface="+mj-lt"/>
              <a:buAutoNum type="arabicPeriod"/>
            </a:pPr>
            <a:r>
              <a:rPr lang="en-US" sz="2000" b="1" u="sng" dirty="0">
                <a:solidFill>
                  <a:schemeClr val="bg1"/>
                </a:solidFill>
                <a:latin typeface="Baskerville Old Face" pitchFamily="18" charset="0"/>
              </a:rPr>
              <a:t>For Customers: </a:t>
            </a:r>
            <a:r>
              <a:rPr lang="en-US" sz="2000" dirty="0">
                <a:solidFill>
                  <a:schemeClr val="bg1"/>
                </a:solidFill>
                <a:latin typeface="Baskerville Old Face" pitchFamily="18" charset="0"/>
              </a:rPr>
              <a:t>We replace their anxiety and frustration with empowerment and control.</a:t>
            </a:r>
          </a:p>
          <a:p>
            <a:pPr marL="342900" indent="-342900" algn="just">
              <a:buFont typeface="+mj-lt"/>
              <a:buAutoNum type="arabicPeriod"/>
            </a:pPr>
            <a:endParaRPr lang="en-US" sz="2000" dirty="0">
              <a:solidFill>
                <a:schemeClr val="bg1"/>
              </a:solidFill>
              <a:latin typeface="Baskerville Old Face" pitchFamily="18" charset="0"/>
            </a:endParaRPr>
          </a:p>
          <a:p>
            <a:pPr marL="342900" indent="-342900" algn="just">
              <a:buFont typeface="+mj-lt"/>
              <a:buAutoNum type="arabicPeriod"/>
            </a:pPr>
            <a:r>
              <a:rPr lang="en-US" sz="2000" b="1" u="sng" dirty="0">
                <a:solidFill>
                  <a:schemeClr val="bg1"/>
                </a:solidFill>
                <a:latin typeface="Baskerville Old Face" pitchFamily="18" charset="0"/>
              </a:rPr>
              <a:t>For Financial Institutions: </a:t>
            </a:r>
            <a:r>
              <a:rPr lang="en-US" sz="2000" dirty="0">
                <a:solidFill>
                  <a:schemeClr val="bg1"/>
                </a:solidFill>
                <a:latin typeface="Baskerville Old Face" pitchFamily="18" charset="0"/>
              </a:rPr>
              <a:t>We turn security from a cost center into a feature that builds deep customer loyalty.</a:t>
            </a:r>
          </a:p>
          <a:p>
            <a:pPr marL="342900" indent="-342900" algn="just">
              <a:buFont typeface="+mj-lt"/>
              <a:buAutoNum type="arabicPeriod"/>
            </a:pPr>
            <a:endParaRPr lang="en-US" sz="2000" dirty="0">
              <a:solidFill>
                <a:schemeClr val="bg1"/>
              </a:solidFill>
              <a:latin typeface="Baskerville Old Face" pitchFamily="18" charset="0"/>
            </a:endParaRPr>
          </a:p>
          <a:p>
            <a:pPr marL="342900" indent="-342900" algn="just">
              <a:buFont typeface="+mj-lt"/>
              <a:buAutoNum type="arabicPeriod"/>
            </a:pPr>
            <a:r>
              <a:rPr lang="en-US" sz="2000" b="1" u="sng" dirty="0">
                <a:solidFill>
                  <a:schemeClr val="bg1"/>
                </a:solidFill>
                <a:latin typeface="Baskerville Old Face" pitchFamily="18" charset="0"/>
              </a:rPr>
              <a:t>For the Ecosystem:</a:t>
            </a:r>
            <a:r>
              <a:rPr lang="en-US" sz="2000" dirty="0">
                <a:solidFill>
                  <a:schemeClr val="bg1"/>
                </a:solidFill>
                <a:latin typeface="Baskerville Old Face" pitchFamily="18" charset="0"/>
              </a:rPr>
              <a:t> We set a new ethical standard for finance, proving that security and transparency can and must work together.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2F73036-BBBF-04E9-A0D1-22B0F9F4A1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07FBEC-B5C5-4748-8BC6-5A9293FCE3F3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83591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286</TotalTime>
  <Words>246</Words>
  <Application>Microsoft Office PowerPoint</Application>
  <PresentationFormat>Widescreen</PresentationFormat>
  <Paragraphs>26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1" baseType="lpstr">
      <vt:lpstr>Aptos</vt:lpstr>
      <vt:lpstr>Aptos Display</vt:lpstr>
      <vt:lpstr>Arial</vt:lpstr>
      <vt:lpstr>Baskerville Old Face</vt:lpstr>
      <vt:lpstr>Calibri</vt:lpstr>
      <vt:lpstr>Castellar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Abhibita Sanya Priyadarshani</dc:creator>
  <cp:lastModifiedBy>Pratirupa Toppo</cp:lastModifiedBy>
  <cp:revision>9</cp:revision>
  <dcterms:created xsi:type="dcterms:W3CDTF">2025-10-12T15:35:30Z</dcterms:created>
  <dcterms:modified xsi:type="dcterms:W3CDTF">2025-10-13T07:39:37Z</dcterms:modified>
</cp:coreProperties>
</file>